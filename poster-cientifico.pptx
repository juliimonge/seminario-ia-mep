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5040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29555999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Regulación de la Inteligencia Artificial en la Educación Pública Costarricense:</a:t>
            </a:r>
          </a:p>
          <a:p>
            <a:pPr algn="ctr">
              <a:spcBef>
                <a:spcPts val="600"/>
              </a:spcBef>
            </a:pPr>
            <a:r>
              <a:rPr sz="4400" b="0" i="0">
                <a:solidFill>
                  <a:srgbClr val="BFDBFE"/>
                </a:solidFill>
                <a:latin typeface="Calibri"/>
              </a:rPr>
              <a:t>Percepción Estudiantil y Lineamientos del MEP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40000"/>
            <a:ext cx="30275999" cy="10079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5184000"/>
            <a:ext cx="29555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Estudiantes ULACIT  ·  Seminario de Investigación 2026  ·  juliimonge.github.io/seminario-ia-mep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6192000"/>
            <a:ext cx="9396000" cy="343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00000" y="6192000"/>
            <a:ext cx="9396000" cy="34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548000" y="6192000"/>
            <a:ext cx="9396000" cy="3438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6408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" y="6462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7164000"/>
            <a:ext cx="91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2540"/>
                </a:solidFill>
                <a:latin typeface="Calibri"/>
              </a:rPr>
              <a:t>El avance acelerado de la inteligencia artificial plantea retos urgentes para los sistemas educativos. Costa Rica carece de normativa vinculante que rija el uso de la IA en centros educativos públicos.</a:t>
            </a:r>
          </a:p>
          <a:p>
            <a:pPr algn="l">
              <a:spcBef>
                <a:spcPts val="400"/>
              </a:spcBef>
            </a:pPr>
            <a:r>
              <a:rPr sz="1900" b="0" i="0">
                <a:solidFill>
                  <a:srgbClr val="1A2540"/>
                </a:solidFill>
                <a:latin typeface="Calibri"/>
              </a:rPr>
              <a:t>
El MEP emitió en 2024 una circular orientativa sobre IA generativa en evaluaciones, pero sin fuerza legal. No existe política pública vinculante que establezca criterios éticos, pedagógicos ni de privacidad.</a:t>
            </a:r>
          </a:p>
          <a:p>
            <a:pPr algn="l">
              <a:spcBef>
                <a:spcPts val="400"/>
              </a:spcBef>
            </a:pPr>
            <a:r>
              <a:rPr sz="1900" b="0" i="0">
                <a:solidFill>
                  <a:srgbClr val="1A2540"/>
                </a:solidFill>
                <a:latin typeface="Calibri"/>
              </a:rPr>
              <a:t>
Esta investigación busca evidenciar la brecha regulatoria y la percepción estudiantil sobre la misma, generando evidencia empírica para el diseño de política pública.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2384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12438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13140000"/>
            <a:ext cx="9180000" cy="6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9A6"/>
                </a:solidFill>
                <a:latin typeface="Calibri"/>
              </a:rPr>
              <a:t>OBJETIVO GENERAL</a:t>
            </a:r>
          </a:p>
          <a:p>
            <a:pPr algn="l">
              <a:spcBef>
                <a:spcPts val="3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Analizar la percepción de estudiantes universitarios ULACIT y los lineamientos del MEP sobre la regulación del uso de la IA en la educación pública costarricense (2022–2026).</a:t>
            </a:r>
          </a:p>
          <a:p>
            <a:pPr algn="l">
              <a:spcBef>
                <a:spcPts val="600"/>
              </a:spcBef>
            </a:pPr>
            <a:r>
              <a:rPr sz="1800" b="1" i="0">
                <a:solidFill>
                  <a:srgbClr val="0039A6"/>
                </a:solidFill>
                <a:latin typeface="Calibri"/>
              </a:rPr>
              <a:t>
OBJETIVOS ESPECÍFICOS</a:t>
            </a:r>
          </a:p>
          <a:p>
            <a:pPr algn="l">
              <a:spcBef>
                <a:spcPts val="3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→  Identificar el nivel de uso y conocimiento de IA entre los encuestados</a:t>
            </a:r>
          </a:p>
          <a:p>
            <a:pPr algn="l">
              <a:spcBef>
                <a:spcPts val="3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→  Determinar la actitud estudiantil hacia la regulación formal del MEP</a:t>
            </a:r>
          </a:p>
          <a:p>
            <a:pPr algn="l">
              <a:spcBef>
                <a:spcPts val="3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→  Contrastar la perspectiva estudiantil con los lineamientos institucionales vigentes del MEP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19440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19494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0196000"/>
            <a:ext cx="918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9A6"/>
                </a:solidFill>
                <a:latin typeface="Calibri"/>
              </a:rPr>
              <a:t>DISEÑO: Mixto (cuantitativo + cualitativo)</a:t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1A2540"/>
                </a:solidFill>
                <a:latin typeface="Calibri"/>
              </a:rPr>
              <a:t>
FASE 1 — CUANTITATIVA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Instrumento: Encuesta estructurada (Microsoft Forms)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Muestra: n = 58 estudiantes ULACIT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Período: Abril 2026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Variables: 7 ítems (Likert, escala 1-10, ranking)</a:t>
            </a:r>
          </a:p>
          <a:p>
            <a:pPr algn="l">
              <a:spcBef>
                <a:spcPts val="500"/>
              </a:spcBef>
            </a:pPr>
            <a:r>
              <a:rPr sz="1800" b="1" i="0">
                <a:solidFill>
                  <a:srgbClr val="1A2540"/>
                </a:solidFill>
                <a:latin typeface="Calibri"/>
              </a:rPr>
              <a:t>
FASE 2 — CUALITATIVA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Instrumento: Entrevista semiestructurada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Informante: 1 funcionario del MEP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A2540"/>
                </a:solidFill>
                <a:latin typeface="Calibri"/>
              </a:rPr>
              <a:t>•  Análisis: Codificación temática inductiva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6856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26910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PERFIL DE ENCUESTADOS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7612000"/>
            <a:ext cx="91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9A6"/>
                </a:solidFill>
                <a:latin typeface="Calibri"/>
              </a:rPr>
              <a:t>EDAD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17–25 años: 55.2%  ·  25–35 años: 25.9%  ·  35–45: 10.3%  ·  +45: 8.6%</a:t>
            </a:r>
          </a:p>
          <a:p>
            <a:pPr algn="l">
              <a:spcBef>
                <a:spcPts val="500"/>
              </a:spcBef>
            </a:pPr>
            <a:r>
              <a:rPr sz="1700" b="1" i="0">
                <a:solidFill>
                  <a:srgbClr val="0039A6"/>
                </a:solidFill>
                <a:latin typeface="Calibri"/>
              </a:rPr>
              <a:t>
GÉNERO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Masculino: 51.7%  ·  Femenino: 44.8%  ·  No indica: 3.4%</a:t>
            </a:r>
          </a:p>
          <a:p>
            <a:pPr algn="l">
              <a:spcBef>
                <a:spcPts val="500"/>
              </a:spcBef>
            </a:pPr>
            <a:r>
              <a:rPr sz="1700" b="1" i="0">
                <a:solidFill>
                  <a:srgbClr val="0039A6"/>
                </a:solidFill>
                <a:latin typeface="Calibri"/>
              </a:rPr>
              <a:t>
CARRERA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Ingeniería: 24.1%  ·  Adm. Empresas: 20.7%  ·  Derecho: 17.2%  ·  Odontología: 12.1%  ·  Otras: 25.9%</a:t>
            </a:r>
          </a:p>
          <a:p>
            <a:pPr algn="l">
              <a:spcBef>
                <a:spcPts val="500"/>
              </a:spcBef>
            </a:pPr>
            <a:r>
              <a:rPr sz="1700" b="1" i="0">
                <a:solidFill>
                  <a:srgbClr val="0039A6"/>
                </a:solidFill>
                <a:latin typeface="Calibri"/>
              </a:rPr>
              <a:t>
AÑO ACADÉMICO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2do año: 37.9%  ·  4to o superior: 25.9%  ·  3er año: 19.0%  ·  1er año: 17.2%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08000" y="6408000"/>
            <a:ext cx="9180000" cy="64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2000" y="6462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RESULTADOS — HALLAZGOS CLAVE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08000" y="7164000"/>
            <a:ext cx="4446000" cy="2700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6000" y="7308000"/>
            <a:ext cx="423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98.3%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6000" y="8748000"/>
            <a:ext cx="423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  <a:latin typeface="Calibri"/>
              </a:rPr>
              <a:t>de los encuestados usa herramientas de IA (57/58)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4000" y="7164000"/>
            <a:ext cx="4446000" cy="27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742000" y="7308000"/>
            <a:ext cx="423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69%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42000" y="8748000"/>
            <a:ext cx="423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  <a:latin typeface="Calibri"/>
              </a:rPr>
              <a:t>apoya la regulación formal del MEP (DA + TDA)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8000" y="10044000"/>
            <a:ext cx="4446000" cy="2700000"/>
          </a:xfrm>
          <a:prstGeom prst="rect">
            <a:avLst/>
          </a:prstGeom>
          <a:solidFill>
            <a:srgbClr val="00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6000" y="10188000"/>
            <a:ext cx="423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70.7%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6000" y="11628000"/>
            <a:ext cx="423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  <a:latin typeface="Calibri"/>
              </a:rPr>
              <a:t>percibe uso frecuente o constante en secundaria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4000" y="10044000"/>
            <a:ext cx="4446000" cy="2700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742000" y="10188000"/>
            <a:ext cx="423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7.47/10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42000" y="11628000"/>
            <a:ext cx="423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  <a:latin typeface="Calibri"/>
              </a:rPr>
              <a:t>promedio de necesidad percibida de regulación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08000" y="12924000"/>
            <a:ext cx="4446000" cy="27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16000" y="13068000"/>
            <a:ext cx="423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84.5%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6000" y="14508000"/>
            <a:ext cx="423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  <a:latin typeface="Calibri"/>
              </a:rPr>
              <a:t>cree que la regulación mejorará la calidad educativa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4000" y="12924000"/>
            <a:ext cx="4446000" cy="2700000"/>
          </a:xfrm>
          <a:prstGeom prst="rect">
            <a:avLst/>
          </a:prstGeom>
          <a:solidFill>
            <a:srgbClr val="00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2000" y="13068000"/>
            <a:ext cx="423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88%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42000" y="14508000"/>
            <a:ext cx="423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  <a:latin typeface="Calibri"/>
              </a:rPr>
              <a:t>no se opone a la regulación (incluye neutrales)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8000" y="16092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52000" y="16146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P3 · Actitud hacia la Regulación Formal del MEP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8000" y="16848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Totalmente de acuerdo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96000" y="16938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996000" y="16938000"/>
            <a:ext cx="2851920" cy="324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170000" y="16848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Calibri"/>
              </a:rPr>
              <a:t>46.6%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8000" y="17406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De acuerdo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96000" y="17496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996000" y="17496000"/>
            <a:ext cx="1370879" cy="32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170000" y="17406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  <a:latin typeface="Calibri"/>
              </a:rPr>
              <a:t>22.4%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8000" y="1796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Neutral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96000" y="18054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996000" y="18054000"/>
            <a:ext cx="1162800" cy="324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170000" y="17964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4748B"/>
                </a:solidFill>
                <a:latin typeface="Calibri"/>
              </a:rPr>
              <a:t>19.0%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08000" y="18522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En desacuerdo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96000" y="18612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996000" y="18612000"/>
            <a:ext cx="422280" cy="3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170000" y="18522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Calibri"/>
              </a:rPr>
              <a:t>6.9%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08000" y="19080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Totalmente en desacuerdo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996000" y="19170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996000" y="19170000"/>
            <a:ext cx="318240" cy="3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170000" y="19080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E1126"/>
                </a:solidFill>
                <a:latin typeface="Calibri"/>
              </a:rPr>
              <a:t>5.2%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08000" y="19638000"/>
            <a:ext cx="91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69% de acuerdo o totalmente de acuerdo  ·  n = 58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000" y="20358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52000" y="20412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P5 · Probabilidad de Mejora Educativa con Regulación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08000" y="2111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Definitivamente probable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996000" y="21204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996000" y="21204000"/>
            <a:ext cx="1162800" cy="324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170000" y="21114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Calibri"/>
              </a:rPr>
              <a:t>19.0%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08000" y="21672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Muy probable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996000" y="21762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996000" y="21762000"/>
            <a:ext cx="2111400" cy="32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170000" y="21672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  <a:latin typeface="Calibri"/>
              </a:rPr>
              <a:t>34.5%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08000" y="22230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Moderadamente probable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996000" y="22320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996000" y="22320000"/>
            <a:ext cx="1897200" cy="3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170000" y="22230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Calibri"/>
              </a:rPr>
              <a:t>31.0%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08000" y="22788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Poco probable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996000" y="22878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996000" y="22878000"/>
            <a:ext cx="844560" cy="324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170000" y="22788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923C"/>
                </a:solidFill>
                <a:latin typeface="Calibri"/>
              </a:rPr>
              <a:t>13.8%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08000" y="23346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Definitivamente no probable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96000" y="23436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2996000" y="23436000"/>
            <a:ext cx="104040" cy="3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9170000" y="23346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E1126"/>
                </a:solidFill>
                <a:latin typeface="Calibri"/>
              </a:rPr>
              <a:t>1.7%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08000" y="23904000"/>
            <a:ext cx="91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84.5% considera probable o muy probable la mejora  ·  n = 58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08000" y="24624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52000" y="24678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P4 · Necesidad de Regulación (escala 1–10)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08000" y="25380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Alta (8–10)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996000" y="25470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996000" y="25470000"/>
            <a:ext cx="3586320" cy="324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170000" y="25380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9A6"/>
                </a:solidFill>
                <a:latin typeface="Calibri"/>
              </a:rPr>
              <a:t>58.6%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08000" y="25938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Media (5–7)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996000" y="26028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996000" y="26028000"/>
            <a:ext cx="1689120" cy="324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170000" y="25938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Calibri"/>
              </a:rPr>
              <a:t>27.6%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08000" y="26496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Baja (0–4)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996000" y="26586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996000" y="26586000"/>
            <a:ext cx="84456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9170000" y="26496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2E8F0"/>
                </a:solidFill>
                <a:latin typeface="Calibri"/>
              </a:rPr>
              <a:t>13.8%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08000" y="27054000"/>
            <a:ext cx="91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9A6"/>
                </a:solidFill>
                <a:latin typeface="Calibri"/>
              </a:rPr>
              <a:t>Media general: 7.47 /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656000" y="6408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9800000" y="6462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PRIORIDADES REGULATORIAS PARA EL MEP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656000" y="7164000"/>
            <a:ext cx="91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Calibri"/>
              </a:rPr>
              <a:t>% que eligió cada objetivo como PRIMERA prioridad  (n = 58)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656000" y="7740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Prevenir el plagio académico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644000" y="7830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2644000" y="7830000"/>
            <a:ext cx="2215440" cy="3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818000" y="7740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E1126"/>
                </a:solidFill>
                <a:latin typeface="Calibri"/>
              </a:rPr>
              <a:t>36.2%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656000" y="8298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Garantizar el uso ético de la IA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644000" y="8388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2644000" y="8388000"/>
            <a:ext cx="2007359" cy="324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818000" y="8298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9A6"/>
                </a:solidFill>
                <a:latin typeface="Calibri"/>
              </a:rPr>
              <a:t>32.8%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656000" y="8856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Promover la innovación educativa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644000" y="8946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644000" y="8946000"/>
            <a:ext cx="1162800" cy="3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8818000" y="8856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Calibri"/>
              </a:rPr>
              <a:t>19.0%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656000" y="941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Capacitar docentes en IA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644000" y="9504000"/>
            <a:ext cx="6120000" cy="3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644000" y="9504000"/>
            <a:ext cx="740520" cy="324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818000" y="9414000"/>
            <a:ext cx="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B5CF6"/>
                </a:solidFill>
                <a:latin typeface="Calibri"/>
              </a:rPr>
              <a:t>12.1%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656000" y="10404000"/>
            <a:ext cx="9180000" cy="64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800000" y="10458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656000" y="11160000"/>
            <a:ext cx="918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E1126"/>
                </a:solidFill>
                <a:latin typeface="Calibri"/>
              </a:rPr>
              <a:t>1. BRECHA TECNOLOGÍA–NORMATIVA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Con 98.3% de adopción, la IA ya es parte del ecosistema educativo, pero los marcos normativos no han avanzado al mismo ritmo.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656000" y="14328000"/>
            <a:ext cx="918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E1126"/>
                </a:solidFill>
                <a:latin typeface="Calibri"/>
              </a:rPr>
              <a:t>2. APOYO MAYORITARIO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El 69% apoya formalmente la regulación y el 88% no se opone — base suficiente para justificar acción política inmediata.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9656000" y="17496000"/>
            <a:ext cx="918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E1126"/>
                </a:solidFill>
                <a:latin typeface="Calibri"/>
              </a:rPr>
              <a:t>3. URGENCIA REGULATORIA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Media de 7.47/10 en necesidad de regulación; el 58.6% eligió valores de 8–10. Los estudiantes la consideran urgente.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656000" y="20664000"/>
            <a:ext cx="918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E1126"/>
                </a:solidFill>
                <a:latin typeface="Calibri"/>
              </a:rPr>
              <a:t>4. INTEGRIDAD PRIMERO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El 69% prioriza prevenir el plagio (36.2%) o garantizar el uso ético (32.8%). Una normativa en esa dirección tendría alta aceptación.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9656000" y="23832000"/>
            <a:ext cx="918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E1126"/>
                </a:solidFill>
                <a:latin typeface="Calibri"/>
              </a:rPr>
              <a:t>5. IMPACTO POSITIVO ESPERADO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El 84.5% espera que la regulación mejore la calidad educativa — desmontando la narrativa de que regular frena la innovación.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9656000" y="27000000"/>
            <a:ext cx="9180000" cy="648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9800000" y="27054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RECOMENDACIONES AL MEP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656000" y="27756000"/>
            <a:ext cx="91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540"/>
                </a:solidFill>
                <a:latin typeface="Calibri"/>
              </a:rPr>
              <a:t>→  Emitir normativa vinculante de uso ético de IA con fuerza reglamentaria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→  Crear protocolos de integridad académica digital para todos los niveles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→  Desarrollar programas de formación docente en competencias de IA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→  Establecer alianzas público-privadas para conectividad y plataformas certificadas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2540"/>
                </a:solidFill>
                <a:latin typeface="Calibri"/>
              </a:rPr>
              <a:t>→  Constituir un observatorio nacional de IA en educación (academia + MEP + sociedad civil)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9656000" y="33156000"/>
            <a:ext cx="9180000" cy="64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9800000" y="33210000"/>
            <a:ext cx="88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REFERENCIAS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656000" y="33912000"/>
            <a:ext cx="91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• UNESCO (2021). Recommendation on the Ethics of Artificial Intelligence.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64748B"/>
                </a:solidFill>
                <a:latin typeface="Calibri"/>
              </a:rPr>
              <a:t>• OCDE (2019). OECD Principles on Artificial Intelligence.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64748B"/>
                </a:solidFill>
                <a:latin typeface="Calibri"/>
              </a:rPr>
              <a:t>• MEP (2024). Circular DM-006-2024 sobre uso de IA generativa en evaluaciones.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64748B"/>
                </a:solidFill>
                <a:latin typeface="Calibri"/>
              </a:rPr>
              <a:t>• Holmes, W., Bialik, M. y Fadel, C. (2019). Artificial Intelligence in Education. CRD.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64748B"/>
                </a:solidFill>
                <a:latin typeface="Calibri"/>
              </a:rPr>
              <a:t>• Hernández Sampieri, R. et al. (2018). Metodología de la Investigación (7ª ed.). McGraw-Hill.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64748B"/>
                </a:solidFill>
                <a:latin typeface="Calibri"/>
              </a:rPr>
              <a:t>• Ley de Transformación Digital N.° 9948. Asamblea Legislativa de Costa Rica (2022).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0" y="41292000"/>
            <a:ext cx="30275999" cy="15120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0000" y="41544000"/>
            <a:ext cx="29555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ULACIT  ·  Seminario de Investigación 2026  ·  n = 58 encuestados  ·  Metodología Mixta  ·  juliimonge.github.io/seminario-ia-mep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